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"/>
  </p:notesMasterIdLst>
  <p:sldIdLst>
    <p:sldId id="330" r:id="rId2"/>
    <p:sldId id="331" r:id="rId3"/>
    <p:sldId id="332" r:id="rId4"/>
  </p:sldIdLst>
  <p:sldSz cx="12192000" cy="6858000"/>
  <p:notesSz cx="6858000" cy="9144000"/>
  <p:embeddedFontLst>
    <p:embeddedFont>
      <p:font typeface="Play" panose="020B0604020202020204" charset="0"/>
      <p:regular r:id="rId6"/>
      <p:bold r:id="rId7"/>
    </p:embeddedFont>
    <p:embeddedFont>
      <p:font typeface="Calibri" panose="020F050202020403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57DFCA12-4101-4581-AFB0-5582DE754451}">
          <p14:sldIdLst>
            <p14:sldId id="330"/>
            <p14:sldId id="331"/>
            <p14:sldId id="332"/>
          </p14:sldIdLst>
        </p14:section>
      </p14:sectionLst>
    </p:ex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jK/f0yF47howWSMNRx1t7ZxO97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F5EE"/>
    <a:srgbClr val="F74937"/>
    <a:srgbClr val="F5D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78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55" Type="http://schemas.openxmlformats.org/officeDocument/2006/relationships/theme" Target="theme/theme1.xml"/><Relationship Id="rId7" Type="http://schemas.openxmlformats.org/officeDocument/2006/relationships/font" Target="fonts/font2.fntdata"/><Relationship Id="rId2" Type="http://schemas.openxmlformats.org/officeDocument/2006/relationships/slide" Target="slides/slide1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3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openxmlformats.org/officeDocument/2006/relationships/font" Target="fonts/font5.fntdata"/><Relationship Id="rId52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eff481cfaf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2eff481cfaf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6652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eff481cfaf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2eff481cfaf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7407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2eff481cfaf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g2eff481cfaf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74482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g2eff481cfaf_2_18" descr="A red and white fla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564"/>
            <a:ext cx="12290395" cy="681643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2eff481cfaf_2_18"/>
          <p:cNvSpPr txBox="1"/>
          <p:nvPr/>
        </p:nvSpPr>
        <p:spPr>
          <a:xfrm>
            <a:off x="7088071" y="-171725"/>
            <a:ext cx="49884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       Quality Events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80" name="Google Shape;480;g2eff481cfaf_2_18"/>
          <p:cNvSpPr txBox="1"/>
          <p:nvPr/>
        </p:nvSpPr>
        <p:spPr>
          <a:xfrm>
            <a:off x="846825" y="4754200"/>
            <a:ext cx="102612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026" name="Picture 2" descr="https://ci3.googleusercontent.com/meips/ADKq_NYoWiyCxIBqXhvayEyoxq9RdqOFqxTu5zYVWWPmrNV2i6HjGtBI5ZIGmLgb8GS-P9z___3MejWcSMXcOtakV5I2Jx_qBa-jgUgiWCxeHnZMfcTzixwuqAXJ=s0-d-e1-ft#https://new.molbiodiagnostics.com/mailSignature/png/Molbio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57" y="91648"/>
            <a:ext cx="1517946" cy="76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38BAC3-93AF-201E-6A37-D5FACF61C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033898"/>
              </p:ext>
            </p:extLst>
          </p:nvPr>
        </p:nvGraphicFramePr>
        <p:xfrm>
          <a:off x="10959" y="1354670"/>
          <a:ext cx="12065513" cy="5031222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388614">
                  <a:extLst>
                    <a:ext uri="{9D8B030D-6E8A-4147-A177-3AD203B41FA5}">
                      <a16:colId xmlns:a16="http://schemas.microsoft.com/office/drawing/2014/main" val="1876070391"/>
                    </a:ext>
                  </a:extLst>
                </a:gridCol>
                <a:gridCol w="1443316">
                  <a:extLst>
                    <a:ext uri="{9D8B030D-6E8A-4147-A177-3AD203B41FA5}">
                      <a16:colId xmlns:a16="http://schemas.microsoft.com/office/drawing/2014/main" val="337399484"/>
                    </a:ext>
                  </a:extLst>
                </a:gridCol>
                <a:gridCol w="1525322">
                  <a:extLst>
                    <a:ext uri="{9D8B030D-6E8A-4147-A177-3AD203B41FA5}">
                      <a16:colId xmlns:a16="http://schemas.microsoft.com/office/drawing/2014/main" val="1279832347"/>
                    </a:ext>
                  </a:extLst>
                </a:gridCol>
                <a:gridCol w="1723232">
                  <a:extLst>
                    <a:ext uri="{9D8B030D-6E8A-4147-A177-3AD203B41FA5}">
                      <a16:colId xmlns:a16="http://schemas.microsoft.com/office/drawing/2014/main" val="1910632586"/>
                    </a:ext>
                  </a:extLst>
                </a:gridCol>
                <a:gridCol w="1695992">
                  <a:extLst>
                    <a:ext uri="{9D8B030D-6E8A-4147-A177-3AD203B41FA5}">
                      <a16:colId xmlns:a16="http://schemas.microsoft.com/office/drawing/2014/main" val="2279889083"/>
                    </a:ext>
                  </a:extLst>
                </a:gridCol>
                <a:gridCol w="1944004">
                  <a:extLst>
                    <a:ext uri="{9D8B030D-6E8A-4147-A177-3AD203B41FA5}">
                      <a16:colId xmlns:a16="http://schemas.microsoft.com/office/drawing/2014/main" val="3576203090"/>
                    </a:ext>
                  </a:extLst>
                </a:gridCol>
                <a:gridCol w="1345033">
                  <a:extLst>
                    <a:ext uri="{9D8B030D-6E8A-4147-A177-3AD203B41FA5}">
                      <a16:colId xmlns:a16="http://schemas.microsoft.com/office/drawing/2014/main" val="241187138"/>
                    </a:ext>
                  </a:extLst>
                </a:gridCol>
              </a:tblGrid>
              <a:tr h="7233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en-US" sz="2000" b="1" i="0" u="none" strike="noStrike" cap="non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Description </a:t>
                      </a:r>
                      <a:endParaRPr lang="en-IN" sz="2000" b="1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July</a:t>
                      </a:r>
                      <a:endParaRPr lang="en-IN" sz="2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August </a:t>
                      </a:r>
                      <a:endParaRPr lang="en-IN" sz="2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September </a:t>
                      </a:r>
                      <a:endParaRPr lang="en-IN" sz="2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October </a:t>
                      </a:r>
                      <a:endParaRPr lang="en-IN" sz="2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November </a:t>
                      </a:r>
                      <a:endParaRPr lang="en-IN" sz="2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 Qty (Nos)</a:t>
                      </a:r>
                      <a:endParaRPr lang="en-IN" sz="20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7169" marR="7169" marT="7169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7097161"/>
                  </a:ext>
                </a:extLst>
              </a:tr>
              <a:tr h="51584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Clearance -Approved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670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690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338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249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517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2464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65774"/>
                  </a:ext>
                </a:extLst>
              </a:tr>
              <a:tr h="51584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Clearance - Not Approved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11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06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04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08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29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2726871"/>
                  </a:ext>
                </a:extLst>
              </a:tr>
              <a:tr h="42900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Closure- Approved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653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673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385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243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505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2459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7944070"/>
                  </a:ext>
                </a:extLst>
              </a:tr>
              <a:tr h="48024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Closure- Not Approved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08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06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05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10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29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17473"/>
                  </a:ext>
                </a:extLst>
              </a:tr>
              <a:tr h="48024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Reverification - Approved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 515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993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975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883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1055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4421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702365"/>
                  </a:ext>
                </a:extLst>
              </a:tr>
              <a:tr h="48024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Reverification - Not Approved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12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06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07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09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b="1" dirty="0" smtClean="0">
                          <a:effectLst/>
                        </a:rPr>
                        <a:t>34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9820123"/>
                  </a:ext>
                </a:extLst>
              </a:tr>
              <a:tr h="681299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</a:t>
                      </a:r>
                      <a:r>
                        <a:rPr lang="en-IN" sz="16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Verification </a:t>
                      </a:r>
                      <a:r>
                        <a:rPr lang="en-IN" sz="1600" b="1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- Approved</a:t>
                      </a:r>
                      <a:endParaRPr lang="en-IN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  <a:effectLst/>
                        </a:rPr>
                        <a:t>1023</a:t>
                      </a:r>
                      <a:endParaRPr lang="en-IN" sz="2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  <a:effectLst/>
                        </a:rPr>
                        <a:t>1201</a:t>
                      </a:r>
                      <a:endParaRPr lang="en-IN" sz="2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 smtClean="0">
                          <a:solidFill>
                            <a:srgbClr val="FF0000"/>
                          </a:solidFill>
                          <a:effectLst/>
                        </a:rPr>
                        <a:t>1256</a:t>
                      </a:r>
                      <a:endParaRPr lang="en-IN" sz="2000" b="1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 smtClean="0">
                          <a:effectLst/>
                        </a:rPr>
                        <a:t>1318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 smtClean="0">
                          <a:effectLst/>
                        </a:rPr>
                        <a:t>1392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 smtClean="0">
                          <a:effectLst/>
                        </a:rPr>
                        <a:t>6190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0586111"/>
                  </a:ext>
                </a:extLst>
              </a:tr>
              <a:tr h="681299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6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Line Verification - Not Approved</a:t>
                      </a:r>
                      <a:endParaRPr lang="en-IN" sz="1600" b="1" i="0" u="none" strike="noStrike" dirty="0" smtClean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7169" marR="7169" marT="716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 smtClean="0">
                          <a:effectLst/>
                        </a:rPr>
                        <a:t>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 smtClean="0">
                          <a:effectLst/>
                        </a:rPr>
                        <a:t>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 smtClean="0">
                          <a:effectLst/>
                        </a:rPr>
                        <a:t>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 smtClean="0">
                          <a:effectLst/>
                        </a:rPr>
                        <a:t>0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 smtClean="0">
                          <a:effectLst/>
                        </a:rPr>
                        <a:t>01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000" b="1" dirty="0" smtClean="0">
                          <a:effectLst/>
                        </a:rPr>
                        <a:t>01</a:t>
                      </a:r>
                      <a:endParaRPr lang="en-IN" sz="2000" b="1" dirty="0">
                        <a:effectLst/>
                      </a:endParaRPr>
                    </a:p>
                  </a:txBody>
                  <a:tcPr marL="28575" marR="28575" marT="19050" marB="1905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602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201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g2eff481cfaf_2_18" descr="A red and white fla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564"/>
            <a:ext cx="12290395" cy="681643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2eff481cfaf_2_18"/>
          <p:cNvSpPr txBox="1"/>
          <p:nvPr/>
        </p:nvSpPr>
        <p:spPr>
          <a:xfrm>
            <a:off x="7088071" y="-171725"/>
            <a:ext cx="49884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       Quality Events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80" name="Google Shape;480;g2eff481cfaf_2_18"/>
          <p:cNvSpPr txBox="1"/>
          <p:nvPr/>
        </p:nvSpPr>
        <p:spPr>
          <a:xfrm>
            <a:off x="846825" y="4754200"/>
            <a:ext cx="102612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026" name="Picture 2" descr="https://ci3.googleusercontent.com/meips/ADKq_NYoWiyCxIBqXhvayEyoxq9RdqOFqxTu5zYVWWPmrNV2i6HjGtBI5ZIGmLgb8GS-P9z___3MejWcSMXcOtakV5I2Jx_qBa-jgUgiWCxeHnZMfcTzixwuqAXJ=s0-d-e1-ft#https://new.molbiodiagnostics.com/mailSignature/png/Molbio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57" y="91648"/>
            <a:ext cx="1517946" cy="76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987280"/>
              </p:ext>
            </p:extLst>
          </p:nvPr>
        </p:nvGraphicFramePr>
        <p:xfrm>
          <a:off x="360215" y="1419835"/>
          <a:ext cx="11716255" cy="48978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43251">
                  <a:extLst>
                    <a:ext uri="{9D8B030D-6E8A-4147-A177-3AD203B41FA5}">
                      <a16:colId xmlns:a16="http://schemas.microsoft.com/office/drawing/2014/main" val="2301664060"/>
                    </a:ext>
                  </a:extLst>
                </a:gridCol>
                <a:gridCol w="2343251">
                  <a:extLst>
                    <a:ext uri="{9D8B030D-6E8A-4147-A177-3AD203B41FA5}">
                      <a16:colId xmlns:a16="http://schemas.microsoft.com/office/drawing/2014/main" val="1526293150"/>
                    </a:ext>
                  </a:extLst>
                </a:gridCol>
                <a:gridCol w="2343251">
                  <a:extLst>
                    <a:ext uri="{9D8B030D-6E8A-4147-A177-3AD203B41FA5}">
                      <a16:colId xmlns:a16="http://schemas.microsoft.com/office/drawing/2014/main" val="2656278828"/>
                    </a:ext>
                  </a:extLst>
                </a:gridCol>
                <a:gridCol w="2343251">
                  <a:extLst>
                    <a:ext uri="{9D8B030D-6E8A-4147-A177-3AD203B41FA5}">
                      <a16:colId xmlns:a16="http://schemas.microsoft.com/office/drawing/2014/main" val="1376877848"/>
                    </a:ext>
                  </a:extLst>
                </a:gridCol>
                <a:gridCol w="2343251">
                  <a:extLst>
                    <a:ext uri="{9D8B030D-6E8A-4147-A177-3AD203B41FA5}">
                      <a16:colId xmlns:a16="http://schemas.microsoft.com/office/drawing/2014/main" val="1163508877"/>
                    </a:ext>
                  </a:extLst>
                </a:gridCol>
              </a:tblGrid>
              <a:tr h="376757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2400" b="1" u="none" strike="noStrike" dirty="0">
                          <a:effectLst/>
                        </a:rPr>
                        <a:t>Incident data from Jan-2025 To Nov-2025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6119060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Sr No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Month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Minor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Major 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Critical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7264270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Jan-25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7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9780312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Feb-25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12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03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445495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03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Mar-25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20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477085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04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Apr-25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04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482006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May-25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278123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Jun-25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01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0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5139334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07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Jul-25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9490938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08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Aug-25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04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653562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09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Sep-25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7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8500587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10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Oct-25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053010"/>
                  </a:ext>
                </a:extLst>
              </a:tr>
              <a:tr h="37675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11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Nov-25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</a:rPr>
                        <a:t>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 dirty="0">
                          <a:effectLst/>
                        </a:rPr>
                        <a:t>0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619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067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g2eff481cfaf_2_18" descr="A red and white fla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41564"/>
            <a:ext cx="12290395" cy="681643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g2eff481cfaf_2_18"/>
          <p:cNvSpPr txBox="1"/>
          <p:nvPr/>
        </p:nvSpPr>
        <p:spPr>
          <a:xfrm>
            <a:off x="7088071" y="-171725"/>
            <a:ext cx="4988400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  <a:p>
            <a:r>
              <a:rPr lang="en-US" sz="4000" b="1" dirty="0">
                <a:solidFill>
                  <a:schemeClr val="bg1"/>
                </a:solidFill>
              </a:rPr>
              <a:t>       Quality Events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80" name="Google Shape;480;g2eff481cfaf_2_18"/>
          <p:cNvSpPr txBox="1"/>
          <p:nvPr/>
        </p:nvSpPr>
        <p:spPr>
          <a:xfrm>
            <a:off x="846825" y="4754200"/>
            <a:ext cx="102612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</a:endParaRPr>
          </a:p>
        </p:txBody>
      </p:sp>
      <p:pic>
        <p:nvPicPr>
          <p:cNvPr id="1026" name="Picture 2" descr="https://ci3.googleusercontent.com/meips/ADKq_NYoWiyCxIBqXhvayEyoxq9RdqOFqxTu5zYVWWPmrNV2i6HjGtBI5ZIGmLgb8GS-P9z___3MejWcSMXcOtakV5I2Jx_qBa-jgUgiWCxeHnZMfcTzixwuqAXJ=s0-d-e1-ft#https://new.molbiodiagnostics.com/mailSignature/png/Molbio_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57" y="91648"/>
            <a:ext cx="1517946" cy="768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itle 4"/>
          <p:cNvSpPr>
            <a:spLocks noGrp="1"/>
          </p:cNvSpPr>
          <p:nvPr>
            <p:ph type="subTitle" idx="1"/>
          </p:nvPr>
        </p:nvSpPr>
        <p:spPr>
          <a:xfrm>
            <a:off x="227788" y="1360466"/>
            <a:ext cx="11499273" cy="4779819"/>
          </a:xfrm>
        </p:spPr>
        <p:txBody>
          <a:bodyPr>
            <a:normAutofit fontScale="92500"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New Process Implementation </a:t>
            </a:r>
            <a:endParaRPr lang="en-IN" b="1" dirty="0">
              <a:solidFill>
                <a:srgbClr val="FF0000"/>
              </a:solidFill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chemeClr val="bg2">
                    <a:lumMod val="90000"/>
                    <a:lumOff val="10000"/>
                  </a:schemeClr>
                </a:solidFill>
              </a:rPr>
              <a:t>Work instructions in the production floor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chemeClr val="bg2">
                    <a:lumMod val="90000"/>
                    <a:lumOff val="10000"/>
                  </a:schemeClr>
                </a:solidFill>
              </a:rPr>
              <a:t>Re-Work area implemented (Line-Wise)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chemeClr val="bg2">
                    <a:lumMod val="90000"/>
                    <a:lumOff val="10000"/>
                  </a:schemeClr>
                </a:solidFill>
              </a:rPr>
              <a:t>Particle count testing </a:t>
            </a:r>
            <a:endParaRPr lang="en-IN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The line-wise color labeling has been implemented.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In the QR pasting activity, segregation has been done to prevent cartridge </a:t>
            </a:r>
            <a:r>
              <a:rPr lang="en-US" b="1" dirty="0" smtClean="0">
                <a:solidFill>
                  <a:schemeClr val="bg2">
                    <a:lumMod val="90000"/>
                    <a:lumOff val="10000"/>
                  </a:schemeClr>
                </a:solidFill>
              </a:rPr>
              <a:t>mix-up.</a:t>
            </a:r>
            <a:endParaRPr lang="en-US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The pictorial representation has been </a:t>
            </a:r>
            <a:r>
              <a:rPr lang="en-US" b="1" dirty="0" smtClean="0">
                <a:solidFill>
                  <a:schemeClr val="bg2">
                    <a:lumMod val="90000"/>
                    <a:lumOff val="10000"/>
                  </a:schemeClr>
                </a:solidFill>
              </a:rPr>
              <a:t>implemented.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en-US" b="1" dirty="0" smtClean="0">
                <a:solidFill>
                  <a:schemeClr val="bg2">
                    <a:lumMod val="90000"/>
                    <a:lumOff val="10000"/>
                  </a:schemeClr>
                </a:solidFill>
              </a:rPr>
              <a:t>Change control tracking sheet.</a:t>
            </a:r>
          </a:p>
          <a:p>
            <a:pPr algn="l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QR scanning software </a:t>
            </a:r>
            <a:r>
              <a:rPr lang="en-US" b="1" dirty="0" smtClean="0">
                <a:solidFill>
                  <a:schemeClr val="bg2">
                    <a:lumMod val="90000"/>
                    <a:lumOff val="10000"/>
                  </a:schemeClr>
                </a:solidFill>
              </a:rPr>
              <a:t>has to </a:t>
            </a:r>
            <a:r>
              <a:rPr 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introduced to ensure proper line-wise identification and to eliminate cartridge/</a:t>
            </a:r>
            <a:r>
              <a:rPr lang="en-US" b="1" dirty="0" err="1">
                <a:solidFill>
                  <a:schemeClr val="bg2">
                    <a:lumMod val="90000"/>
                    <a:lumOff val="10000"/>
                  </a:schemeClr>
                </a:solidFill>
              </a:rPr>
              <a:t>mould</a:t>
            </a:r>
            <a:r>
              <a:rPr lang="en-US" b="1" dirty="0">
                <a:solidFill>
                  <a:schemeClr val="bg2">
                    <a:lumMod val="90000"/>
                    <a:lumOff val="10000"/>
                  </a:schemeClr>
                </a:solidFill>
              </a:rPr>
              <a:t> mix-up</a:t>
            </a:r>
            <a:r>
              <a:rPr lang="en-US" b="1" dirty="0" smtClean="0">
                <a:solidFill>
                  <a:schemeClr val="bg2">
                    <a:lumMod val="90000"/>
                    <a:lumOff val="10000"/>
                  </a:schemeClr>
                </a:solidFill>
              </a:rPr>
              <a:t>. (Not yet introduced in system).</a:t>
            </a:r>
            <a:endParaRPr lang="en-US" b="1" dirty="0">
              <a:solidFill>
                <a:schemeClr val="bg2">
                  <a:lumMod val="90000"/>
                  <a:lumOff val="10000"/>
                </a:schemeClr>
              </a:solidFill>
            </a:endParaRPr>
          </a:p>
          <a:p>
            <a:pPr marL="50800" indent="0" algn="l"/>
            <a:endParaRPr lang="en-US" b="1" dirty="0" smtClean="0">
              <a:solidFill>
                <a:schemeClr val="bg2">
                  <a:lumMod val="90000"/>
                  <a:lumOff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210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2399</TotalTime>
  <Words>246</Words>
  <Application>Microsoft Office PowerPoint</Application>
  <PresentationFormat>Widescreen</PresentationFormat>
  <Paragraphs>139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Play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Raja Kandivalasa S</dc:creator>
  <cp:lastModifiedBy>varma k.</cp:lastModifiedBy>
  <cp:revision>180</cp:revision>
  <dcterms:created xsi:type="dcterms:W3CDTF">2024-07-31T06:44:52Z</dcterms:created>
  <dcterms:modified xsi:type="dcterms:W3CDTF">2025-12-01T09:38:00Z</dcterms:modified>
</cp:coreProperties>
</file>